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999" cy="128016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ilm_logo_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38912"/>
            <a:ext cx="99946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200" b="1">
                <a:solidFill>
                  <a:srgbClr val="141416"/>
                </a:solidFill>
                <a:latin typeface="Aptos"/>
              </a:defRPr>
            </a:pPr>
            <a: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1069848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100" b="0">
                <a:solidFill>
                  <a:srgbClr val="73767B"/>
                </a:solidFill>
                <a:latin typeface="Aptos"/>
              </a:defRPr>
            </a:pPr>
            <a:r>
              <a:t>Greater Noida, U.P.  •  School of Computer Science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2267712"/>
            <a:ext cx="58978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23744"/>
            <a:ext cx="10698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73767B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1069848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000" b="1">
                <a:solidFill>
                  <a:srgbClr val="07234B"/>
                </a:solidFill>
                <a:latin typeface="Aptos"/>
              </a:defRPr>
            </a:pPr>
            <a:r>
              <a:t>AI–ML VIRTUAL</a:t>
            </a:r>
            <a:br/>
            <a:r>
              <a:t>INTERNSHIP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977639"/>
            <a:ext cx="83210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400" b="0">
                <a:solidFill>
                  <a:srgbClr val="373A3F"/>
                </a:solidFill>
                <a:latin typeface="Aptos"/>
              </a:defRPr>
            </a:pPr>
            <a:r>
              <a:t>Artificial Intelligence &amp; Machine Learning — Learning, Workflow and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4681728"/>
            <a:ext cx="8321040" cy="1143000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491947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64608"/>
            <a:ext cx="61264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1">
                <a:solidFill>
                  <a:srgbClr val="141416"/>
                </a:solidFill>
                <a:latin typeface="Aptos"/>
              </a:defRPr>
            </a:pPr>
            <a:r>
              <a:t>Keshav Narayan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257800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ROLL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202936"/>
            <a:ext cx="2286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373A3F"/>
                </a:solidFill>
                <a:latin typeface="Aptos"/>
              </a:defRPr>
            </a:pPr>
            <a:r>
              <a:t>CS-23411020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5257800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202936"/>
            <a:ext cx="25603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50" b="1">
                <a:solidFill>
                  <a:srgbClr val="373A3F"/>
                </a:solidFill>
                <a:latin typeface="Aptos"/>
              </a:defRPr>
            </a:pPr>
            <a:r>
              <a:t>B.Tech CSE • Batch 2023–27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5257800"/>
            <a:ext cx="7315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5202936"/>
            <a:ext cx="100584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373A3F"/>
                </a:solidFill>
                <a:latin typeface="Aptos"/>
              </a:defRPr>
            </a:pPr>
            <a:r>
              <a:t>Apr–Jun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17920"/>
            <a:ext cx="1078992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73767B"/>
                </a:solidFill>
                <a:latin typeface="Aptos"/>
              </a:defRPr>
            </a:pPr>
            <a:r>
              <a:t>AICTE–EduSkills National Internship Portal  •  8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Internship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A structured eight-week learning experience focused on practical AI and Machine Learning fundamentals.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97480"/>
            <a:ext cx="2542032" cy="13258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97480"/>
            <a:ext cx="54864" cy="132588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9864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8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084831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Internship duration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697480"/>
            <a:ext cx="2542032" cy="13258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2697480"/>
            <a:ext cx="54864" cy="1325880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89864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APR–JUN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383280"/>
            <a:ext cx="2084831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Completion period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697480"/>
            <a:ext cx="2542032" cy="13258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2697480"/>
            <a:ext cx="54864" cy="132588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9864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AICTE–EDUSKILLS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383280"/>
            <a:ext cx="2084831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National Internship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2697480"/>
            <a:ext cx="2542032" cy="132588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6" y="2697480"/>
            <a:ext cx="54864" cy="132588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89864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GOOGLE FOR DEVELOPERS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383280"/>
            <a:ext cx="2084831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Program support / learning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343400"/>
            <a:ext cx="5212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CORE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81728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AI and ML fundamentals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Data preparation and preprocessing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Model training and evaluation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Practical problem-solving with datasets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343400"/>
            <a:ext cx="52120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WHY IT MATTERED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81728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Connected academic concepts with practical workflows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Improved programming and analytical understanding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Introduced real-world AI/ML applications</a:t>
            </a:r>
          </a:p>
          <a:p>
            <a:pPr>
              <a:spcAft>
                <a:spcPts val="600"/>
              </a:spcAft>
              <a:defRPr sz="1200">
                <a:solidFill>
                  <a:srgbClr val="373A3F"/>
                </a:solidFill>
                <a:latin typeface="Aptos"/>
              </a:defRPr>
            </a:pPr>
            <a:r>
              <a:t>• Built familiarity with the complete ML lifecycle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02 /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What the internship aimed to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The report defines seven core objectives covering concepts, workflow, algorithms and evaluation.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54864" cy="7772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260604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6547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62432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AI &amp; ML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0896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Understand the fundamental concepts of Artificial Intelligence and Machine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2316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423160"/>
            <a:ext cx="54864" cy="777240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64808" y="260604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66547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62432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Types of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Understand supervised and unsupervised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328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383280"/>
            <a:ext cx="54864" cy="7772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356616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62559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58444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ML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6908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Learn the basic steps involved in a Machine Learning workflow.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38328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383280"/>
            <a:ext cx="54864" cy="7772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64808" y="356616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62559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58444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06908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Understand data preparation, cleaning and transformation techniques.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4340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343400"/>
            <a:ext cx="54864" cy="777240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5528" y="452628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458571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07592" y="454456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Algorithms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02920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Study important algorithms used for prediction and classification.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34340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4343400"/>
            <a:ext cx="54864" cy="7772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4808" y="452628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58571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76872" y="454456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Training &amp;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02920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Understand how models are trained and tested.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303520"/>
            <a:ext cx="5257800" cy="7772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5303520"/>
            <a:ext cx="54864" cy="7772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5528" y="548640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554583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7592" y="5504688"/>
            <a:ext cx="434340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989320"/>
            <a:ext cx="4800600" cy="-91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Learn how models are evaluated using appropriate performance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03 /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AI–ML foundations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The internship emphasized how data becomes a model, and how a trained model becomes a usable prediction.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212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CONCEPTUAL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71800"/>
            <a:ext cx="1325880" cy="1325880"/>
          </a:xfrm>
          <a:prstGeom prst="ellipse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10712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3" name="Oval 12"/>
          <p:cNvSpPr/>
          <p:nvPr/>
        </p:nvSpPr>
        <p:spPr>
          <a:xfrm>
            <a:off x="2331720" y="2971800"/>
            <a:ext cx="1325880" cy="1325880"/>
          </a:xfrm>
          <a:prstGeom prst="ellipse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410712"/>
            <a:ext cx="13258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54680"/>
            <a:ext cx="16002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100" b="1">
                <a:solidFill>
                  <a:srgbClr val="373A3F"/>
                </a:solidFill>
                <a:latin typeface="Aptos"/>
              </a:defRPr>
            </a:pPr>
            <a:r>
              <a:t>ML is a subset of AI</a:t>
            </a:r>
            <a:br/>
            <a:r>
              <a:t>that learns patterns</a:t>
            </a:r>
            <a:br/>
            <a:r>
              <a:t>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526280"/>
            <a:ext cx="45720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0">
                <a:solidFill>
                  <a:srgbClr val="373A3F"/>
                </a:solidFill>
                <a:latin typeface="Aptos"/>
              </a:defRPr>
            </a:pPr>
            <a:r>
              <a:t>Learning emphasis: data → features → model → evaluation →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52120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APPLICATION AREAS IDENTIFIED IN THE REPORT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926080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017520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547872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639312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547872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19" y="3639312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E-commerce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69664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261104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Cybersecurity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4169664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19" y="4261104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Recommendation Systems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91456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882896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Predictive Analytics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4791456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19" y="4882896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Image &amp; Text Processing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413248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504688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5413248"/>
            <a:ext cx="2395728" cy="393192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19" y="5504688"/>
            <a:ext cx="22128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50" b="1">
                <a:solidFill>
                  <a:srgbClr val="373A3F"/>
                </a:solidFill>
                <a:latin typeface="Aptos"/>
              </a:defRPr>
            </a:pPr>
            <a:r>
              <a:t>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04 /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Technology and tools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The report lists a practical Python-based stack for data work, visualization, machine learning and collaboration.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0604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06040"/>
            <a:ext cx="54864" cy="123444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0720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Programming and ML implementation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0712" y="260604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10712" y="2606040"/>
            <a:ext cx="54864" cy="12344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80720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NumPy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29184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Numerical computations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60604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2606040"/>
            <a:ext cx="54864" cy="1234440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80720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329184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Data manipulation and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3416" y="260604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43416" y="2606040"/>
            <a:ext cx="54864" cy="123444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80720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329184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Data visualization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11480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4114800"/>
            <a:ext cx="54864" cy="12344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31596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ML algorithms and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0712" y="411480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10712" y="4114800"/>
            <a:ext cx="54864" cy="1234440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431596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Jupyter / Colab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480060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Development and experimentation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411480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7064" y="4114800"/>
            <a:ext cx="54864" cy="123444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31596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80060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3416" y="4114800"/>
            <a:ext cx="2542032" cy="1234440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43416" y="4114800"/>
            <a:ext cx="54864" cy="1234440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4315968"/>
            <a:ext cx="2112263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6" y="4800600"/>
            <a:ext cx="2084831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Code and project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623560"/>
            <a:ext cx="107899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0">
                <a:solidFill>
                  <a:srgbClr val="373A3F"/>
                </a:solidFill>
                <a:latin typeface="Aptos"/>
              </a:defRPr>
            </a:pPr>
            <a:r>
              <a:t>Together, these tools support the workflow from data preparation and analysis to model development, evaluation and project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05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End-to-end Machine Learning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The report describes a sequential workflow that moves from raw data to evaluated predictions.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87168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87168"/>
            <a:ext cx="54864" cy="877824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267004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72948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68833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172968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Gather relevant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798064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487168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2487168"/>
            <a:ext cx="54864" cy="877824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267004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72948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8344" y="268833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172968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Clean, transform and prepare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798064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55864" y="2487168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5864" y="2487168"/>
            <a:ext cx="54864" cy="877824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57032" y="267004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272948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9096" y="268833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172968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Understand patterns and structure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611880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3611880"/>
            <a:ext cx="54864" cy="877824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5528" y="379476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385419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81304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297680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Select relevant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3922776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3611880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25112" y="3611880"/>
            <a:ext cx="54864" cy="877824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26280" y="379476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385419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8344" y="381304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MODEL SELECTION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297680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Choose an appropriate algorithm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4112" y="3922776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55864" y="3611880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55864" y="3611880"/>
            <a:ext cx="54864" cy="877824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57032" y="379476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2" y="385419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69096" y="381304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4297680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Train using training data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736592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" y="4736592"/>
            <a:ext cx="54864" cy="877824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5528" y="4919472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528" y="4978907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07592" y="4937759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MODEL TESTING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5422392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Test on unseen data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5047488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25112" y="4736592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5112" y="4736592"/>
            <a:ext cx="54864" cy="877824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280" y="4919472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978907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38344" y="4937759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MODEL EVALUATION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53712" y="5422392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Measure model performance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4112" y="5047488"/>
            <a:ext cx="2743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600" b="1">
                <a:solidFill>
                  <a:srgbClr val="73767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55864" y="4736592"/>
            <a:ext cx="3401568" cy="877824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55864" y="4736592"/>
            <a:ext cx="54864" cy="877824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57032" y="4919472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57032" y="4978907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69096" y="4937759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PREDICTION /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84464" y="5422392"/>
            <a:ext cx="2944368" cy="9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  <a:r>
              <a:t>Use the model for predictions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52544" y="5715000"/>
            <a:ext cx="3493008" cy="502920"/>
          </a:xfrm>
          <a:prstGeom prst="round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43984" y="5843016"/>
            <a:ext cx="331012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PREDICTION /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06 /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Eight-week learning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A module-wise progression from fundamentals and Python to practical applications, assessment and final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60904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INTRODUCTION TO AI &amp;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5584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AI, ML, types of ML and real-world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514600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660904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94436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PYTHON FOR AI/ML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5584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NumPy, Pandas and basic data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514600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60904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F17E16"/>
                </a:solidFill>
                <a:latin typeface="Aptos"/>
              </a:defRPr>
            </a:pPr>
            <a:r>
              <a:t>WEEK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4436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DATA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5584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Cleaning, missing values, feature selection and transformation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70848" y="2514600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660904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94436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SUPERVISED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355848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Regression, classification and common algorithms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87368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33672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1713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UNSUPERVISED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2861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Clustering and pattern discovery in unlabeled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087368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4233672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F17E16"/>
                </a:solidFill>
                <a:latin typeface="Aptos"/>
              </a:defRPr>
            </a:pPr>
            <a:r>
              <a:t>WEEK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51713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TRAINING &amp;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92861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Model training, testing and performance measures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4087368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33672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1713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PRACTICAL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2861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Problem-solving exercises and real-world scenarios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0848" y="4087368"/>
            <a:ext cx="2542032" cy="1298448"/>
          </a:xfrm>
          <a:prstGeom prst="roundRect">
            <a:avLst/>
          </a:prstGeom>
          <a:solidFill>
            <a:srgbClr val="F7F8FA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233672"/>
            <a:ext cx="21945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50" b="1">
                <a:solidFill>
                  <a:srgbClr val="73767B"/>
                </a:solidFill>
                <a:latin typeface="Aptos"/>
              </a:defRPr>
            </a:pPr>
            <a:r>
              <a:t>WEEK 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51713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1">
                <a:solidFill>
                  <a:srgbClr val="141416"/>
                </a:solidFill>
                <a:latin typeface="Aptos"/>
              </a:defRPr>
            </a:pPr>
            <a:r>
              <a:t>PROJECT &amp; ASSESSMENT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4928616"/>
            <a:ext cx="219456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869" b="0">
                <a:solidFill>
                  <a:srgbClr val="373A3F"/>
                </a:solidFill>
                <a:latin typeface="Aptos"/>
              </a:defRPr>
            </a:pPr>
            <a:r>
              <a:t>Practical work, assessments and overall ML workflow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07 /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Learning outcomes and practical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The internship strengthened technical understanding while connecting classroom concepts with practical AI/ML workflows.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14600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14600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269748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75691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271576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Understanding of AI and ML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16" name="Rounded Rectangle 15"/>
          <p:cNvSpPr/>
          <p:nvPr/>
        </p:nvSpPr>
        <p:spPr>
          <a:xfrm>
            <a:off x="4325112" y="2514600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25112" y="2514600"/>
            <a:ext cx="54864" cy="749808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269748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75691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8344" y="271576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Knowledge of supervised and unsupervised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200400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8055864" y="2514600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5864" y="2514600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7032" y="2697480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2" y="2756916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2715768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Improved Python programming 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3200400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594360" y="3447288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447288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8" y="363016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368960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364845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Understanding of data preprocessing and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133087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4325112" y="3447288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5112" y="3447288"/>
            <a:ext cx="54864" cy="749808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26280" y="363016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68960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8344" y="364845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Familiarity with Machine Learning algorithms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4133087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40" name="Rounded Rectangle 39"/>
          <p:cNvSpPr/>
          <p:nvPr/>
        </p:nvSpPr>
        <p:spPr>
          <a:xfrm>
            <a:off x="8055864" y="3447288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55864" y="3447288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57032" y="3630168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2" y="3689604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69096" y="3648456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Understanding of model training and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4464" y="4133087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594360" y="4379976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4360" y="4379976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5528" y="4562856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8" y="4622292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7592" y="4581144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Knowledge of ML model evaluation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065776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4325112" y="4379976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5112" y="4379976"/>
            <a:ext cx="54864" cy="749808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26280" y="4562856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26280" y="4622292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38344" y="4581144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Improved analytical and problem-solving 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3712" y="5065776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58" name="Rounded Rectangle 57"/>
          <p:cNvSpPr/>
          <p:nvPr/>
        </p:nvSpPr>
        <p:spPr>
          <a:xfrm>
            <a:off x="8055864" y="4379976"/>
            <a:ext cx="3401568" cy="749808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55864" y="4379976"/>
            <a:ext cx="54864" cy="749808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257032" y="4562856"/>
            <a:ext cx="384048" cy="384048"/>
          </a:xfrm>
          <a:prstGeom prst="ellipse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57032" y="4622292"/>
            <a:ext cx="384048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69096" y="4581144"/>
            <a:ext cx="2487168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200" b="1">
                <a:solidFill>
                  <a:srgbClr val="141416"/>
                </a:solidFill>
                <a:latin typeface="Aptos"/>
              </a:defRPr>
            </a:pPr>
            <a:r>
              <a:t>Better understanding of real-world AI/ML applications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4464" y="5065776"/>
            <a:ext cx="2944368" cy="-1188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50" b="0">
                <a:solidFill>
                  <a:srgbClr val="373A3F"/>
                </a:solidFill>
                <a:latin typeface="Aptos"/>
              </a:defRPr>
            </a:pPr>
          </a:p>
        </p:txBody>
      </p:sp>
      <p:sp>
        <p:nvSpPr>
          <p:cNvPr id="64" name="Rounded Rectangle 63"/>
          <p:cNvSpPr/>
          <p:nvPr/>
        </p:nvSpPr>
        <p:spPr>
          <a:xfrm>
            <a:off x="1417320" y="5559552"/>
            <a:ext cx="9326880" cy="566928"/>
          </a:xfrm>
          <a:prstGeom prst="round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00200" y="5724144"/>
            <a:ext cx="89611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Key takeaway: the internship helped bridge academic knowledge and practical AI/ML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141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1148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3767B"/>
                </a:solidFill>
                <a:latin typeface="Aptos"/>
              </a:defRPr>
            </a:pPr>
            <a:r>
              <a:t>08 /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41416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856231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3A3F"/>
                </a:solidFill>
                <a:latin typeface="Aptos"/>
              </a:defRPr>
            </a:pPr>
            <a:r>
              <a:t>Certificate issued for successful completion of the 8-week AI-ML Virtual Internship during April–June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28232"/>
            <a:ext cx="11155680" cy="10972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473952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67B"/>
                </a:solidFill>
                <a:latin typeface="Aptos"/>
              </a:defRPr>
            </a:pPr>
            <a:r>
              <a:t>AI-ML VIRTUAL INTERNSHIP •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594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3767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2331720"/>
            <a:ext cx="434340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hatsApp Image 2026-08-30 at 4.58.4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450592"/>
            <a:ext cx="4032504" cy="35387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560320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CERTIFICATE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Name: Keshav Narayan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Program: AI-ML Virtual Internship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Duration: 8 weeks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Period: April–June 2026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Issued through AICTE–EduSkills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560320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900" b="1">
                <a:solidFill>
                  <a:srgbClr val="73767B"/>
                </a:solidFill>
                <a:latin typeface="Aptos"/>
              </a:defRPr>
            </a:pPr>
            <a:r>
              <a:t>PROGRAM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9718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EduSkills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AICTE / Ministry of Education ecosystem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National Internship Portal</a:t>
            </a:r>
          </a:p>
          <a:p>
            <a:pPr>
              <a:spcAft>
                <a:spcPts val="800"/>
              </a:spcAft>
              <a:defRPr sz="1050">
                <a:solidFill>
                  <a:srgbClr val="373A3F"/>
                </a:solidFill>
                <a:latin typeface="Aptos"/>
              </a:defRPr>
            </a:pPr>
            <a:r>
              <a:t>• Google for Developers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73152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4846320" cy="73152"/>
          </a:xfrm>
          <a:prstGeom prst="rect">
            <a:avLst/>
          </a:prstGeom>
          <a:solidFill>
            <a:srgbClr val="10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0"/>
            <a:ext cx="3685032" cy="73152"/>
          </a:xfrm>
          <a:prstGeom prst="rect">
            <a:avLst/>
          </a:prstGeom>
          <a:solidFill>
            <a:srgbClr val="F17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000" b="1">
                <a:solidFill>
                  <a:srgbClr val="BEC8D6"/>
                </a:solidFill>
                <a:latin typeface="Aptos"/>
              </a:defRPr>
            </a:pPr>
            <a:r>
              <a:t>AI–ML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850392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Keshav Narayan  •  CS-23411020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5039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200" b="0">
                <a:solidFill>
                  <a:srgbClr val="CDD2DC"/>
                </a:solidFill>
                <a:latin typeface="Aptos"/>
              </a:defRPr>
            </a:pPr>
            <a:r>
              <a:t>B.Tech CSE • IILM University, 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69080"/>
            <a:ext cx="850392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0">
                <a:solidFill>
                  <a:srgbClr val="E1E4EB"/>
                </a:solidFill>
                <a:latin typeface="Aptos"/>
              </a:defRPr>
            </a:pPr>
            <a:r>
              <a:t>Eight-week journey in Artificial Intelligence and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1069848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900" b="0">
                <a:solidFill>
                  <a:srgbClr val="B4BCC9"/>
                </a:solidFill>
                <a:latin typeface="Aptos"/>
              </a:defRPr>
            </a:pPr>
            <a:r>
              <a:t>AICTE–EduSkills National Internship Portal  •  April–June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